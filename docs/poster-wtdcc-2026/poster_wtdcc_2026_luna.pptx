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30275213" cy="42803763"/>
  <p:notesSz cx="6858000" cy="9144000"/>
  <p:defaultTextStyle>
    <a:defPPr/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60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7" d="100"/>
          <a:sy n="17" d="100"/>
        </p:scale>
        <p:origin x="3204" y="10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-5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no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5" accent4="accent4" accent5="accent5" accent6="accent6" hlink="hlink" folHlink="folHlink"/>
  <p:notesStyle/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no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4276530" y="10154960"/>
            <a:ext cx="3275073" cy="528446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 anchor="b"/>
          <a:lstStyle/>
          <a:p>
            <a:pPr marL="0" marR="0" indent="0" algn="r">
              <a:lnSpc>
                <a:spcPct val="93000"/>
              </a:lnSpc>
              <a:spcBef>
                <a:spcPts val="35"/>
              </a:spcBef>
              <a:spcAft>
                <a:spcPts val="35"/>
              </a:spcAft>
            </a:pPr>
            <a:fld id="{371B7A22-11DF-4BC5-9D69-847EC6D7E697}" type="slidenum">
              <a:t>1</a:t>
            </a:fld>
            <a:endParaRPr/>
          </a:p>
        </p:txBody>
      </p:sp>
      <p:sp>
        <p:nvSpPr>
          <p:cNvPr id="3" name="PlaceHolder 3"/>
          <p:cNvSpPr txBox="1">
            <a:spLocks noGrp="1"/>
          </p:cNvSpPr>
          <p:nvPr>
            <p:ph type="body" idx="4294967295"/>
          </p:nvPr>
        </p:nvSpPr>
        <p:spPr>
          <a:xfrm>
            <a:off x="755592" y="5079280"/>
            <a:ext cx="6047619" cy="4809297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_Master9-Layout10-blank-Default-85">
    <p:spTree>
      <p:nvGrpSpPr>
        <p:cNvPr id="1" name="no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no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10" Type="http://schemas.openxmlformats.org/officeDocument/2006/relationships/image" Target="../media/image5.png"/><Relationship Id="rId11" Type="http://schemas.openxmlformats.org/officeDocument/2006/relationships/image" Target="../media/image6.png"/><Relationship Id="rId12" Type="http://schemas.openxmlformats.org/officeDocument/2006/relationships/image" Target="../media/image7.png"/><Relationship Id="rId1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bg>
      <p:bgPr>
        <a:solidFill>
          <a:srgbClr val="FFFFFF"/>
        </a:solidFill>
        <a:effectLst/>
      </p:bgPr>
    </p:bg>
    <p:spTree>
      <p:nvGrpSpPr>
        <p:cNvPr id="1" name="no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>
            <a:extLst>
              <a:ext uri="{FF2B5EF4-FFF2-40B4-BE49-F238E27FC236}">
                <a16:creationId xmlns:a16="http://schemas.microsoft.com/office/drawing/2014/main" id="{5E15FA9A-D3A6-70D1-D3C3-1C27060B4A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3077" y="1527673"/>
            <a:ext cx="7920000" cy="2653401"/>
          </a:xfrm>
          <a:prstGeom prst="rect">
            <a:avLst/>
          </a:prstGeom>
        </p:spPr>
      </p:pic>
      <p:sp>
        <p:nvSpPr>
          <p:cNvPr id="3" name="Rectangle 1"/>
          <p:cNvSpPr/>
          <p:nvPr/>
        </p:nvSpPr>
        <p:spPr>
          <a:xfrm>
            <a:off x="1451502" y="1690600"/>
            <a:ext cx="20407114" cy="205691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lIns="90004" tIns="44996" rIns="90004" bIns="44996" anchor="t"/>
          <a:lstStyle/>
          <a:p>
            <a:pPr algn="ctr">
              <a:spcBef>
                <a:spcPts val="35"/>
              </a:spcBef>
              <a:spcAft>
                <a:spcPts val="35"/>
              </a:spcAft>
              <a:buNone/>
            </a:pPr>
            <a:r>
              <a:rPr lang="pt-BR" sz="5000" b="1" dirty="0">
                <a:solidFill>
                  <a:srgbClr val="222A35"/>
                </a:solidFill>
                <a:latin typeface="Arial"/>
                <a:cs typeface="Arial"/>
              </a:rPr>
              <a:t>Da declaração à verificação: proteção de dados verificável</a:t>
            </a:r>
          </a:p>
          <a:p>
            <a:pPr algn="ctr">
              <a:spcBef>
                <a:spcPts val="0"/>
              </a:spcBef>
              <a:spcAft>
                <a:spcPts val="35"/>
              </a:spcAft>
              <a:buNone/>
            </a:pPr>
            <a:r>
              <a:rPr lang="pt-BR" sz="5000" b="1" dirty="0">
                <a:solidFill>
                  <a:srgbClr val="222A35"/>
                </a:solidFill>
                <a:latin typeface="Arial"/>
                <a:cs typeface="Arial"/>
              </a:rPr>
              <a:t>em um aplicativo de acompanhamento menstrual</a:t>
            </a:r>
          </a:p>
        </p:txBody>
      </p:sp>
      <p:sp>
        <p:nvSpPr>
          <p:cNvPr id="4" name="Rectangle 2"/>
          <p:cNvSpPr/>
          <p:nvPr/>
        </p:nvSpPr>
        <p:spPr>
          <a:xfrm>
            <a:off x="1918394" y="3497327"/>
            <a:ext cx="19942743" cy="1122049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lIns="90004" tIns="44996" rIns="90004" bIns="44996" anchor="t"/>
          <a:lstStyle/>
          <a:p>
            <a:pPr algn="ctr">
              <a:spcBef>
                <a:spcPts val="35"/>
              </a:spcBef>
              <a:spcAft>
                <a:spcPts val="35"/>
              </a:spcAft>
              <a:buNone/>
            </a:pPr>
            <a:r>
              <a:rPr lang="pt-BR" sz="3600" i="1" dirty="0">
                <a:solidFill>
                  <a:srgbClr val="222A35"/>
                </a:solidFill>
                <a:latin typeface="Arial"/>
                <a:cs typeface="Arial"/>
              </a:rPr>
              <a:t>Millene Santos e Silva, Edgard Afonso Lamounier Junior</a:t>
            </a:r>
          </a:p>
          <a:p>
            <a:pPr algn="ctr">
              <a:spcBef>
                <a:spcPts val="0"/>
              </a:spcBef>
              <a:spcAft>
                <a:spcPts val="35"/>
              </a:spcAft>
              <a:buNone/>
            </a:pPr>
            <a:r>
              <a:rPr lang="pt-BR" sz="3200" dirty="0">
                <a:solidFill>
                  <a:srgbClr val="222A35"/>
                </a:solidFill>
                <a:latin typeface="Arial"/>
                <a:cs typeface="Arial"/>
              </a:rPr>
              <a:t>{millene12111qido32, lamounier}@ufu.br</a:t>
            </a:r>
          </a:p>
        </p:txBody>
      </p:sp>
      <p:sp>
        <p:nvSpPr>
          <p:cNvPr id="5" name="Rectangle 3"/>
          <p:cNvSpPr/>
          <p:nvPr/>
        </p:nvSpPr>
        <p:spPr>
          <a:xfrm>
            <a:off x="1080366" y="6319189"/>
            <a:ext cx="13495549" cy="1998000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lIns="308483" tIns="154432" rIns="308483" bIns="154432" anchor="t"/>
          <a:lstStyle/>
          <a:p>
            <a:pPr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3600" b="1" dirty="0">
                <a:solidFill>
                  <a:srgbClr val="000000"/>
                </a:solidFill>
                <a:latin typeface="Arial Black"/>
                <a:cs typeface="Arial Black"/>
              </a:rPr>
              <a:t>RESUMO</a:t>
            </a:r>
          </a:p>
          <a:p>
            <a:pPr algn="just" indent="685800">
              <a:spcBef>
                <a:spcPts val="0"/>
              </a:spcBef>
              <a:spcAft>
                <a:spcPts val="500"/>
              </a:spcAft>
              <a:buNone/>
            </a:pPr>
            <a:r>
              <a:rPr lang="pt-BR" sz="3200" dirty="0">
                <a:solidFill>
                  <a:srgbClr val="000000"/>
                </a:solidFill>
                <a:latin typeface="Arial"/>
                <a:cs typeface="Arial"/>
              </a:rPr>
              <a:t>Em vez de confiar na política de privacidade, este trabalho testa a proteção de dados no próprio código do Luna, aplicativo Android de ciclo menstrual com backend auto-hospedável. Quatro verificações reprodutíveis confirmaram controle de acesso, isolamento entre contas e ausência de credenciais expostas e de rastreadores, e também apontaram o que ainda falta proteger.</a:t>
            </a:r>
          </a:p>
          <a:p>
            <a:pPr algn="just">
              <a:spcBef>
                <a:spcPts val="1100"/>
              </a:spcBef>
              <a:spcAft>
                <a:spcPts val="600"/>
              </a:spcAft>
              <a:buNone/>
            </a:pPr>
            <a:r>
              <a:rPr lang="pt-BR" sz="3600" b="1" dirty="0">
                <a:solidFill>
                  <a:srgbClr val="000000"/>
                </a:solidFill>
                <a:latin typeface="Arial Black"/>
                <a:cs typeface="Arial Black"/>
              </a:rPr>
              <a:t>INTRODUÇÃO</a:t>
            </a:r>
          </a:p>
          <a:p>
            <a:pPr algn="just" indent="685800">
              <a:spcBef>
                <a:spcPts val="0"/>
              </a:spcBef>
              <a:spcAft>
                <a:spcPts val="500"/>
              </a:spcAft>
              <a:buNone/>
            </a:pPr>
            <a:r>
              <a:rPr lang="pt-BR" sz="3200" dirty="0">
                <a:solidFill>
                  <a:srgbClr val="000000"/>
                </a:solidFill>
                <a:latin typeface="Arial"/>
                <a:cs typeface="Arial"/>
              </a:rPr>
              <a:t>Aplicativos de acompanhamento menstrual registram datas, sintomas, humor e atividade sexual. A LGPD (Lei 13.709/2018) classifica dados de saúde e de vida sexual como sensíveis.</a:t>
            </a:r>
          </a:p>
          <a:p>
            <a:pPr algn="just" indent="685800">
              <a:spcBef>
                <a:spcPts val="0"/>
              </a:spcBef>
              <a:spcAft>
                <a:spcPts val="500"/>
              </a:spcAft>
              <a:buNone/>
            </a:pPr>
            <a:r>
              <a:rPr lang="pt-BR" sz="3200" dirty="0">
                <a:solidFill>
                  <a:srgbClr val="000000"/>
                </a:solidFill>
                <a:latin typeface="Arial"/>
                <a:cs typeface="Arial"/>
              </a:rPr>
              <a:t>Mesmo assim, análises de aplicativos Android de saúde encontraram rastreadores de terceiros na maioria dos casos. Alternativas de código aberto evitam isso guardando tudo só no celular, o que impede o uso em vários dispositivos e a hospedagem por instituições de saúde.</a:t>
            </a:r>
          </a:p>
          <a:p>
            <a:pPr algn="just" indent="685800">
              <a:spcBef>
                <a:spcPts val="0"/>
              </a:spcBef>
              <a:spcAft>
                <a:spcPts val="500"/>
              </a:spcAft>
              <a:buNone/>
            </a:pPr>
            <a:r>
              <a:rPr lang="pt-BR" sz="3200" b="1" dirty="0">
                <a:solidFill>
                  <a:srgbClr val="000000"/>
                </a:solidFill>
                <a:latin typeface="Arial"/>
                <a:cs typeface="Arial"/>
              </a:rPr>
              <a:t>Pergunta:</a:t>
            </a:r>
            <a:r>
              <a:rPr lang="pt-BR" sz="3200" dirty="0">
                <a:solidFill>
                  <a:srgbClr val="000000"/>
                </a:solidFill>
                <a:latin typeface="Arial"/>
                <a:cs typeface="Arial"/>
              </a:rPr>
              <a:t xml:space="preserve"> como mostrar, ainda durante o desenvolvimento, que um aplicativo protege esses dados, em vez de só afirmar isso na política de privacidade?</a:t>
            </a:r>
          </a:p>
          <a:p>
            <a:pPr algn="just" indent="685800">
              <a:spcBef>
                <a:spcPts val="0"/>
              </a:spcBef>
              <a:spcAft>
                <a:spcPts val="500"/>
              </a:spcAft>
              <a:buNone/>
            </a:pPr>
            <a:r>
              <a:rPr lang="pt-BR" sz="3200" b="1" dirty="0">
                <a:solidFill>
                  <a:srgbClr val="000000"/>
                </a:solidFill>
                <a:latin typeface="Arial"/>
                <a:cs typeface="Arial"/>
              </a:rPr>
              <a:t>Objetivo:</a:t>
            </a:r>
            <a:r>
              <a:rPr lang="pt-BR" sz="3200" dirty="0">
                <a:solidFill>
                  <a:srgbClr val="000000"/>
                </a:solidFill>
                <a:latin typeface="Arial"/>
                <a:cs typeface="Arial"/>
              </a:rPr>
              <a:t xml:space="preserve"> definir verificações reprodutíveis que transformem promessas de privacidade em propriedades checáveis no código, aplicá-las ao Luna e deixar claro o que elas ainda não cobrem.</a:t>
            </a:r>
          </a:p>
          <a:p>
            <a:pPr algn="just">
              <a:spcBef>
                <a:spcPts val="1100"/>
              </a:spcBef>
              <a:spcAft>
                <a:spcPts val="600"/>
              </a:spcAft>
              <a:buNone/>
            </a:pPr>
            <a:r>
              <a:rPr lang="pt-BR" sz="3600" b="1" dirty="0">
                <a:solidFill>
                  <a:srgbClr val="000000"/>
                </a:solidFill>
                <a:latin typeface="Arial Black"/>
                <a:cs typeface="Arial Black"/>
              </a:rPr>
              <a:t>MATERIAIS E MÉTODOS</a:t>
            </a:r>
          </a:p>
          <a:p>
            <a:pPr algn="just" indent="685800">
              <a:spcBef>
                <a:spcPts val="0"/>
              </a:spcBef>
              <a:spcAft>
                <a:spcPts val="500"/>
              </a:spcAft>
              <a:buNone/>
            </a:pPr>
            <a:r>
              <a:rPr lang="pt-BR" sz="3200" dirty="0">
                <a:solidFill>
                  <a:srgbClr val="000000"/>
                </a:solidFill>
                <a:latin typeface="Arial"/>
                <a:cs typeface="Arial"/>
              </a:rPr>
              <a:t>O Luna usa arquitetura cliente-servidor: aplicativo Android em Kotlin e servidor em Python (FastAPI), sob licença GNU GPL v3. Foram definidas quatro verificações:</a:t>
            </a:r>
          </a:p>
          <a:p>
            <a:pPr algn="just" marL="571500" indent="-571500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</a:pPr>
            <a:r>
              <a:rPr lang="pt-BR" sz="3200" b="1" dirty="0">
                <a:solidFill>
                  <a:srgbClr val="000000"/>
                </a:solidFill>
                <a:latin typeface="Arial"/>
                <a:cs typeface="Arial"/>
              </a:rPr>
              <a:t>Controle de acesso:</a:t>
            </a:r>
            <a:r>
              <a:rPr lang="pt-BR" sz="3200" dirty="0">
                <a:solidFill>
                  <a:srgbClr val="000000"/>
                </a:solidFill>
                <a:latin typeface="Arial"/>
                <a:cs typeface="Arial"/>
              </a:rPr>
              <a:t xml:space="preserve"> cada endpoint protegido é chamado sem token e com token inválido ou expirado.</a:t>
            </a:r>
          </a:p>
          <a:p>
            <a:pPr algn="just" marL="571500" indent="-571500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</a:pPr>
            <a:r>
              <a:rPr lang="pt-BR" sz="3200" b="1" dirty="0">
                <a:solidFill>
                  <a:srgbClr val="000000"/>
                </a:solidFill>
                <a:latin typeface="Arial"/>
                <a:cs typeface="Arial"/>
              </a:rPr>
              <a:t>Isolamento entre contas:</a:t>
            </a:r>
            <a:r>
              <a:rPr lang="pt-BR" sz="3200" dirty="0">
                <a:solidFill>
                  <a:srgbClr val="000000"/>
                </a:solidFill>
                <a:latin typeface="Arial"/>
                <a:cs typeface="Arial"/>
              </a:rPr>
              <a:t xml:space="preserve"> uma usuária autenticada tenta ler, alterar e remover registros de outra.</a:t>
            </a:r>
          </a:p>
          <a:p>
            <a:pPr algn="just" marL="571500" indent="-571500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</a:pPr>
            <a:r>
              <a:rPr lang="pt-BR" sz="3200" b="1" dirty="0">
                <a:solidFill>
                  <a:srgbClr val="000000"/>
                </a:solidFill>
                <a:latin typeface="Arial"/>
                <a:cs typeface="Arial"/>
              </a:rPr>
              <a:t>Exposição de credenciais:</a:t>
            </a:r>
            <a:r>
              <a:rPr lang="pt-BR" sz="3200" dirty="0">
                <a:solidFill>
                  <a:srgbClr val="000000"/>
                </a:solidFill>
                <a:latin typeface="Arial"/>
                <a:cs typeface="Arial"/>
              </a:rPr>
              <a:t xml:space="preserve"> os esquemas de resposta da API são varridos em busca de senhas ou hashes.</a:t>
            </a:r>
          </a:p>
          <a:p>
            <a:pPr algn="just" marL="571500" indent="-571500">
              <a:spcBef>
                <a:spcPts val="0"/>
              </a:spcBef>
              <a:spcAft>
                <a:spcPts val="500"/>
              </a:spcAft>
              <a:buFont typeface="+mj-lt"/>
              <a:buAutoNum type="arabicPeriod"/>
            </a:pPr>
            <a:r>
              <a:rPr lang="pt-BR" sz="3200" b="1" dirty="0">
                <a:solidFill>
                  <a:srgbClr val="000000"/>
                </a:solidFill>
                <a:latin typeface="Arial"/>
                <a:cs typeface="Arial"/>
              </a:rPr>
              <a:t>Destinos de rede:</a:t>
            </a:r>
            <a:r>
              <a:rPr lang="pt-BR" sz="3200" dirty="0">
                <a:solidFill>
                  <a:srgbClr val="000000"/>
                </a:solidFill>
                <a:latin typeface="Arial"/>
                <a:cs typeface="Arial"/>
              </a:rPr>
              <a:t xml:space="preserve"> inspeção estática das dependências e dos endereços configurados no aplicativo e no backend.</a:t>
            </a:r>
          </a:p>
          <a:p>
            <a:pPr algn="just" indent="685800">
              <a:spcBef>
                <a:spcPts val="0"/>
              </a:spcBef>
              <a:spcAft>
                <a:spcPts val="500"/>
              </a:spcAft>
              <a:buNone/>
            </a:pPr>
            <a:r>
              <a:rPr lang="pt-BR" sz="3200" dirty="0">
                <a:solidFill>
                  <a:srgbClr val="000000"/>
                </a:solidFill>
                <a:latin typeface="Arial"/>
                <a:cs typeface="Arial"/>
              </a:rPr>
              <a:t>As três primeiras rodam no backend. Código e testes são abertos para qualquer pessoa reexecutar.</a:t>
            </a:r>
          </a:p>
        </p:txBody>
      </p:sp>
      <p:sp>
        <p:nvSpPr>
          <p:cNvPr id="6" name="Rectangle 4"/>
          <p:cNvSpPr/>
          <p:nvPr/>
        </p:nvSpPr>
        <p:spPr>
          <a:xfrm>
            <a:off x="15699405" y="6319189"/>
            <a:ext cx="12818792" cy="187200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lIns="308483" tIns="154432" rIns="308483" bIns="154432" anchor="t"/>
          <a:lstStyle/>
          <a:p>
            <a:pPr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3600" b="1" dirty="0">
                <a:solidFill>
                  <a:srgbClr val="000000"/>
                </a:solidFill>
                <a:latin typeface="Arial Black"/>
                <a:cs typeface="Arial Black"/>
              </a:rPr>
              <a:t>RESULTADOS ESPERADOS</a:t>
            </a:r>
          </a:p>
          <a:p>
            <a:pPr algn="just" indent="68580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solidFill>
                  <a:srgbClr val="000000"/>
                </a:solidFill>
                <a:latin typeface="Arial"/>
                <a:cs typeface="Arial"/>
              </a:rPr>
              <a:t xml:space="preserve">O backend tem </a:t>
            </a:r>
            <a:r>
              <a:rPr lang="pt-BR" sz="3200" b="1" dirty="0">
                <a:solidFill>
                  <a:srgbClr val="000000"/>
                </a:solidFill>
                <a:latin typeface="Arial"/>
                <a:cs typeface="Arial"/>
              </a:rPr>
              <a:t>150 testes automatizados aprovados</a:t>
            </a:r>
            <a:r>
              <a:rPr lang="pt-BR" sz="3200" dirty="0">
                <a:solidFill>
                  <a:srgbClr val="000000"/>
                </a:solidFill>
                <a:latin typeface="Arial"/>
                <a:cs typeface="Arial"/>
              </a:rPr>
              <a:t xml:space="preserve"> e </a:t>
            </a:r>
            <a:r>
              <a:rPr lang="pt-BR" sz="3200" b="1" dirty="0">
                <a:solidFill>
                  <a:srgbClr val="000000"/>
                </a:solidFill>
                <a:latin typeface="Arial"/>
                <a:cs typeface="Arial"/>
              </a:rPr>
              <a:t>94% de cobertura de linhas</a:t>
            </a:r>
            <a:r>
              <a:rPr lang="pt-BR" sz="3200" dirty="0">
                <a:solidFill>
                  <a:srgbClr val="000000"/>
                </a:solidFill>
                <a:latin typeface="Arial"/>
                <a:cs typeface="Arial"/>
              </a:rPr>
              <a:t>. As quatro verificações passaram:</a:t>
            </a:r>
          </a:p>
        </p:txBody>
      </p:sp>
      <p:sp>
        <p:nvSpPr>
          <p:cNvPr id="7" name="Rectangle 5"/>
          <p:cNvSpPr/>
          <p:nvPr/>
        </p:nvSpPr>
        <p:spPr>
          <a:xfrm flipV="1">
            <a:off x="1328031" y="5246457"/>
            <a:ext cx="27372675" cy="4427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tx1"/>
          </a:solidFill>
          <a:ln w="6483">
            <a:solidFill>
              <a:schemeClr val="tx1"/>
            </a:solidFill>
          </a:ln>
          <a:effectLst>
            <a:outerShdw dist="38157" algn="tl">
              <a:srgbClr val="000000">
                <a:alpha val="40000"/>
              </a:srgbClr>
            </a:outerShdw>
          </a:effectLst>
        </p:spPr>
        <p:txBody>
          <a:bodyPr lIns="90004" tIns="1077" rIns="90004" bIns="1077" anchor="ctr"/>
          <a:lstStyle/>
          <a:p>
            <a:pPr algn="l"/>
            <a:endParaRPr/>
          </a:p>
        </p:txBody>
      </p:sp>
      <p:sp>
        <p:nvSpPr>
          <p:cNvPr id="8" name="Rectangle 7"/>
          <p:cNvSpPr/>
          <p:nvPr/>
        </p:nvSpPr>
        <p:spPr>
          <a:xfrm flipV="1">
            <a:off x="1451503" y="39563095"/>
            <a:ext cx="27369075" cy="4103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tx1"/>
          </a:solidFill>
          <a:ln w="6483">
            <a:solidFill>
              <a:schemeClr val="tx1"/>
            </a:solidFill>
          </a:ln>
          <a:effectLst>
            <a:outerShdw dist="38157" algn="tl">
              <a:srgbClr val="000000">
                <a:alpha val="40000"/>
              </a:srgbClr>
            </a:outerShdw>
          </a:effectLst>
        </p:spPr>
        <p:txBody>
          <a:bodyPr lIns="90004" tIns="0" rIns="90004" bIns="0" anchor="ctr"/>
          <a:lstStyle/>
          <a:p>
            <a:pPr algn="l"/>
            <a:endParaRPr/>
          </a:p>
        </p:txBody>
      </p:sp>
      <p:pic>
        <p:nvPicPr>
          <p:cNvPr id="9" name="Picture 12"/>
          <p:cNvPicPr/>
          <p:nvPr/>
        </p:nvPicPr>
        <p:blipFill>
          <a:blip r:embed="rId4"/>
          <a:stretch>
            <a:fillRect/>
          </a:stretch>
        </p:blipFill>
        <p:spPr>
          <a:xfrm>
            <a:off x="23050143" y="40175056"/>
            <a:ext cx="5176473" cy="1637896"/>
          </a:xfrm>
          <a:prstGeom prst="rect">
            <a:avLst/>
          </a:prstGeom>
          <a:ln>
            <a:noFill/>
          </a:ln>
          <a:effectLst/>
        </p:spPr>
      </p:pic>
      <p:sp>
        <p:nvSpPr>
          <p:cNvPr id="10" name="Rectangle 14"/>
          <p:cNvSpPr/>
          <p:nvPr/>
        </p:nvSpPr>
        <p:spPr>
          <a:xfrm>
            <a:off x="24479252" y="4393311"/>
            <a:ext cx="1107650" cy="638959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none" lIns="90004" tIns="44996" rIns="90004" bIns="44996" anchor="t">
            <a:spAutoFit/>
          </a:bodyPr>
          <a:lstStyle/>
          <a:p>
            <a:pPr algn="l">
              <a:spcBef>
                <a:spcPts val="35"/>
              </a:spcBef>
              <a:spcAft>
                <a:spcPts val="35"/>
              </a:spcAft>
            </a:pPr>
            <a:r>
              <a:rPr lang="pt-BR" sz="3600" b="1" i="1" dirty="0">
                <a:solidFill>
                  <a:srgbClr val="8D602B"/>
                </a:solidFill>
                <a:latin typeface="Calibri"/>
                <a:cs typeface="Calibri"/>
              </a:rPr>
              <a:t>2026</a:t>
            </a:r>
            <a:endParaRPr dirty="0">
              <a:solidFill>
                <a:srgbClr val="8D602B"/>
              </a:solidFill>
            </a:endParaRPr>
          </a:p>
        </p:txBody>
      </p:sp>
      <p:pic>
        <p:nvPicPr>
          <p:cNvPr id="11" name="Imagem 645"/>
          <p:cNvPicPr/>
          <p:nvPr/>
        </p:nvPicPr>
        <p:blipFill>
          <a:blip r:embed="rId5"/>
          <a:stretch>
            <a:fillRect/>
          </a:stretch>
        </p:blipFill>
        <p:spPr>
          <a:xfrm>
            <a:off x="2016668" y="40139059"/>
            <a:ext cx="5219671" cy="1724651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2" name="Imagem 646"/>
          <p:cNvPicPr/>
          <p:nvPr/>
        </p:nvPicPr>
        <p:blipFill>
          <a:blip r:embed="rId6"/>
          <a:stretch>
            <a:fillRect/>
          </a:stretch>
        </p:blipFill>
        <p:spPr>
          <a:xfrm>
            <a:off x="11988039" y="40463038"/>
            <a:ext cx="5975623" cy="1200884"/>
          </a:xfrm>
          <a:prstGeom prst="rect">
            <a:avLst/>
          </a:prstGeom>
          <a:ln>
            <a:noFill/>
          </a:ln>
          <a:effectLst/>
        </p:spPr>
      </p:pic>
      <p:sp>
        <p:nvSpPr>
          <p:cNvPr id="13" name="Rectangle 5"/>
          <p:cNvSpPr/>
          <p:nvPr/>
        </p:nvSpPr>
        <p:spPr>
          <a:xfrm flipV="1">
            <a:off x="1328031" y="1075400"/>
            <a:ext cx="27372675" cy="4427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tx1"/>
          </a:solidFill>
          <a:ln w="6483">
            <a:solidFill>
              <a:schemeClr val="tx1"/>
            </a:solidFill>
          </a:ln>
          <a:effectLst>
            <a:outerShdw dist="38157" algn="tl">
              <a:srgbClr val="000000">
                <a:alpha val="40000"/>
              </a:srgbClr>
            </a:outerShdw>
          </a:effectLst>
        </p:spPr>
        <p:txBody>
          <a:bodyPr lIns="90004" tIns="1076" rIns="90004" bIns="1076" anchor="ctr"/>
          <a:lstStyle/>
          <a:p>
            <a:pPr algn="l"/>
            <a:endParaRPr/>
          </a:p>
        </p:txBody>
      </p:sp>
      <p:pic>
        <p:nvPicPr>
          <p:cNvPr id="101" name="Figura 1" descr="Arquitetura do Luna: aplicativo Android, backend e banco de dados no servidor auto-hospedado, sem conexão com terceiros.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88849" y="27559189"/>
            <a:ext cx="12878583" cy="8794402"/>
          </a:xfrm>
          <a:prstGeom prst="rect">
            <a:avLst/>
          </a:prstGeom>
          <a:ln>
            <a:noFill/>
          </a:ln>
        </p:spPr>
      </p:pic>
      <p:sp>
        <p:nvSpPr>
          <p:cNvPr id="102" name="Legenda Figura 1"/>
          <p:cNvSpPr txBox="1"/>
          <p:nvPr/>
        </p:nvSpPr>
        <p:spPr>
          <a:xfrm>
            <a:off x="1080366" y="36533591"/>
            <a:ext cx="13495549" cy="792000"/>
          </a:xfrm>
          <a:prstGeom prst="rect">
            <a:avLst/>
          </a:prstGeom>
          <a:noFill/>
          <a:ln>
            <a:noFill/>
          </a:ln>
        </p:spPr>
        <p:txBody>
          <a:bodyPr wrap="square" lIns="308483" tIns="154432" rIns="308483" bIns="154432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1" dirty="0">
                <a:solidFill>
                  <a:srgbClr val="222A35"/>
                </a:solidFill>
                <a:latin typeface="Arial"/>
                <a:cs typeface="Arial"/>
              </a:rPr>
              <a:t xml:space="preserve">Figura 1. </a:t>
            </a:r>
            <a:r>
              <a:rPr lang="pt-BR" sz="2600" i="1" dirty="0">
                <a:solidFill>
                  <a:srgbClr val="404040"/>
                </a:solidFill>
                <a:latin typeface="Arial"/>
                <a:cs typeface="Arial"/>
              </a:rPr>
              <a:t>Arquitetura do Luna. Os círculos numerados indicam onde atua cada verificação.</a:t>
            </a:r>
          </a:p>
        </p:txBody>
      </p:sp>
      <p:graphicFrame>
        <p:nvGraphicFramePr>
          <p:cNvPr id="103" name="Tabela de resultados"/>
          <p:cNvGraphicFramePr>
            <a:graphicFrameLocks noGrp="1"/>
          </p:cNvGraphicFramePr>
          <p:nvPr/>
        </p:nvGraphicFramePr>
        <p:xfrm>
          <a:off x="16007888" y="8191189"/>
          <a:ext cx="12201826" cy="4428000"/>
        </p:xfrm>
        <a:graphic>
          <a:graphicData uri="http://schemas.openxmlformats.org/drawingml/2006/table">
            <a:tbl>
              <a:tblPr firstRow="1"/>
              <a:tblGrid>
                <a:gridCol w="4392657"/>
                <a:gridCol w="7809169"/>
              </a:tblGrid>
              <a:tr h="54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Verificação</a:t>
                      </a:r>
                    </a:p>
                  </a:txBody>
                  <a:tcPr marL="150000" marR="150000" marT="90000" marB="90000"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C218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Resultado no Luna</a:t>
                      </a:r>
                    </a:p>
                  </a:txBody>
                  <a:tcPr marL="150000" marR="150000" marT="90000" marB="90000"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C2185B"/>
                    </a:solidFill>
                  </a:tcPr>
                </a:tc>
              </a:tr>
              <a:tr h="972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6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1. Controle de acesso</a:t>
                      </a:r>
                    </a:p>
                  </a:txBody>
                  <a:tcPr marL="150000" marR="150000" marT="90000" marB="90000"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60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17 de 17 endpoints protegidos recusam (401) token ausente, inválido ou expirado.</a:t>
                      </a:r>
                    </a:p>
                  </a:txBody>
                  <a:tcPr marL="150000" marR="150000" marT="90000" marB="90000"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972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6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2. Isolamento entre contas</a:t>
                      </a:r>
                    </a:p>
                  </a:txBody>
                  <a:tcPr marL="150000" marR="150000" marT="90000" marB="90000"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BEA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60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Registro de outra usuária retorna 404; o identificador enviado pelo app é ignorado.</a:t>
                      </a:r>
                    </a:p>
                  </a:txBody>
                  <a:tcPr marL="150000" marR="150000" marT="90000" marB="90000"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BEAF1"/>
                    </a:solidFill>
                  </a:tcPr>
                </a:tc>
              </a:tr>
              <a:tr h="972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6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3. Exposição de credenciais</a:t>
                      </a:r>
                    </a:p>
                  </a:txBody>
                  <a:tcPr marL="150000" marR="150000" marT="90000" marB="90000"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60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Nenhuma resposta da API contém senha, hash ou chave de assinatura.</a:t>
                      </a:r>
                    </a:p>
                  </a:txBody>
                  <a:tcPr marL="150000" marR="150000" marT="90000" marB="90000"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972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6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4. Destinos de rede</a:t>
                      </a:r>
                    </a:p>
                  </a:txBody>
                  <a:tcPr marL="150000" marR="150000" marT="90000" marB="90000"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BEA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60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Nenhuma biblioteca de análise, anúncios ou backend como serviço; único destino: o próprio backend.</a:t>
                      </a:r>
                    </a:p>
                  </a:txBody>
                  <a:tcPr marL="150000" marR="150000" marT="90000" marB="90000"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BEAF1"/>
                    </a:solidFill>
                  </a:tcPr>
                </a:tc>
              </a:tr>
            </a:tbl>
          </a:graphicData>
        </a:graphic>
      </p:graphicFrame>
      <p:pic>
        <p:nvPicPr>
          <p:cNvPr id="104" name="Figura 2 tela 1" descr="Tela de consentimento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747448" y="13339189"/>
            <a:ext cx="3126788" cy="5220000"/>
          </a:xfrm>
          <a:prstGeom prst="rect">
            <a:avLst/>
          </a:prstGeom>
          <a:ln w="12700">
            <a:solidFill>
              <a:srgbClr val="D9D9D9"/>
            </a:solidFill>
          </a:ln>
        </p:spPr>
      </p:pic>
      <p:pic>
        <p:nvPicPr>
          <p:cNvPr id="105" name="Figura 2 tela 2" descr="Tela inicial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090236" y="13339189"/>
            <a:ext cx="2570725" cy="5220000"/>
          </a:xfrm>
          <a:prstGeom prst="rect">
            <a:avLst/>
          </a:prstGeom>
          <a:ln w="12700">
            <a:solidFill>
              <a:srgbClr val="D9D9D9"/>
            </a:solidFill>
          </a:ln>
        </p:spPr>
      </p:pic>
      <p:pic>
        <p:nvPicPr>
          <p:cNvPr id="106" name="Figura 2 tela 3" descr="Conversa com a assistent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876961" y="13339189"/>
            <a:ext cx="2593192" cy="5220000"/>
          </a:xfrm>
          <a:prstGeom prst="rect">
            <a:avLst/>
          </a:prstGeom>
          <a:ln w="12700">
            <a:solidFill>
              <a:srgbClr val="D9D9D9"/>
            </a:solidFill>
          </a:ln>
        </p:spPr>
      </p:pic>
      <p:sp>
        <p:nvSpPr>
          <p:cNvPr id="107" name="Legenda Figura 2"/>
          <p:cNvSpPr txBox="1"/>
          <p:nvPr/>
        </p:nvSpPr>
        <p:spPr>
          <a:xfrm>
            <a:off x="15699405" y="18703189"/>
            <a:ext cx="12818792" cy="576000"/>
          </a:xfrm>
          <a:prstGeom prst="rect">
            <a:avLst/>
          </a:prstGeom>
          <a:noFill/>
          <a:ln>
            <a:noFill/>
          </a:ln>
        </p:spPr>
        <p:txBody>
          <a:bodyPr wrap="square" lIns="308483" tIns="154432" rIns="308483" bIns="154432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1" dirty="0">
                <a:solidFill>
                  <a:srgbClr val="222A35"/>
                </a:solidFill>
                <a:latin typeface="Arial"/>
                <a:cs typeface="Arial"/>
              </a:rPr>
              <a:t xml:space="preserve">Figura 2. </a:t>
            </a:r>
            <a:r>
              <a:rPr lang="pt-BR" sz="2600" i="1" dirty="0">
                <a:solidFill>
                  <a:srgbClr val="404040"/>
                </a:solidFill>
                <a:latin typeface="Arial"/>
                <a:cs typeface="Arial"/>
              </a:rPr>
              <a:t>Telas do Luna: consentimento, tela inicial e conversa com a assistente.</a:t>
            </a:r>
          </a:p>
        </p:txBody>
      </p:sp>
      <p:sp>
        <p:nvSpPr>
          <p:cNvPr id="108" name="Coluna direita (continuação)"/>
          <p:cNvSpPr txBox="1"/>
          <p:nvPr/>
        </p:nvSpPr>
        <p:spPr>
          <a:xfrm>
            <a:off x="15699405" y="19387189"/>
            <a:ext cx="12818792" cy="20012811"/>
          </a:xfrm>
          <a:prstGeom prst="rect">
            <a:avLst/>
          </a:prstGeom>
          <a:noFill/>
          <a:ln>
            <a:noFill/>
          </a:ln>
        </p:spPr>
        <p:txBody>
          <a:bodyPr wrap="square" lIns="308483" tIns="154432" rIns="308483" bIns="154432" anchor="t">
            <a:noAutofit/>
          </a:bodyPr>
          <a:lstStyle/>
          <a:p>
            <a:pPr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3600" b="1" dirty="0">
                <a:solidFill>
                  <a:srgbClr val="000000"/>
                </a:solidFill>
                <a:latin typeface="Arial Black"/>
                <a:cs typeface="Arial Black"/>
              </a:rPr>
              <a:t>LIMITAÇÕES</a:t>
            </a:r>
          </a:p>
          <a:p>
            <a:pPr algn="just" marL="571500" indent="-5715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pt-BR" sz="3200" b="1" dirty="0">
                <a:solidFill>
                  <a:srgbClr val="000000"/>
                </a:solidFill>
                <a:latin typeface="Arial"/>
                <a:cs typeface="Arial"/>
              </a:rPr>
              <a:t>Rede só estática:</a:t>
            </a:r>
            <a:r>
              <a:rPr lang="pt-BR" sz="3200" dirty="0">
                <a:solidFill>
                  <a:srgbClr val="000000"/>
                </a:solidFill>
                <a:latin typeface="Arial"/>
                <a:cs typeface="Arial"/>
              </a:rPr>
              <a:t xml:space="preserve"> o tráfego real do app em um aparelho ainda não foi capturado.</a:t>
            </a:r>
          </a:p>
          <a:p>
            <a:pPr algn="just" marL="571500" indent="-5715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pt-BR" sz="3200" b="1" dirty="0">
                <a:solidFill>
                  <a:srgbClr val="000000"/>
                </a:solidFill>
                <a:latin typeface="Arial"/>
                <a:cs typeface="Arial"/>
              </a:rPr>
              <a:t>Consentimento antes do login:</a:t>
            </a:r>
            <a:r>
              <a:rPr lang="pt-BR" sz="3200" dirty="0">
                <a:solidFill>
                  <a:srgbClr val="000000"/>
                </a:solidFill>
                <a:latin typeface="Arial"/>
                <a:cs typeface="Arial"/>
              </a:rPr>
              <a:t xml:space="preserve"> a tela já envia o aceite, mas, sem sessão ativa, o servidor o recusa (401).</a:t>
            </a:r>
          </a:p>
          <a:p>
            <a:pPr algn="just" marL="571500" indent="-5715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pt-BR" sz="3200" b="1" dirty="0">
                <a:solidFill>
                  <a:srgbClr val="000000"/>
                </a:solidFill>
                <a:latin typeface="Arial"/>
                <a:cs typeface="Arial"/>
              </a:rPr>
              <a:t>Logs detalhados:</a:t>
            </a:r>
            <a:r>
              <a:rPr lang="pt-BR" sz="3200" dirty="0">
                <a:solidFill>
                  <a:srgbClr val="000000"/>
                </a:solidFill>
                <a:latin typeface="Arial"/>
                <a:cs typeface="Arial"/>
              </a:rPr>
              <a:t xml:space="preserve"> o cliente HTTP grava no log do Android o corpo das requisições, inclusive senha e token.</a:t>
            </a:r>
          </a:p>
          <a:p>
            <a:pPr algn="just" marL="571500" indent="-5715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pt-BR" sz="3200" b="1" dirty="0">
                <a:solidFill>
                  <a:srgbClr val="000000"/>
                </a:solidFill>
                <a:latin typeface="Arial"/>
                <a:cs typeface="Arial"/>
              </a:rPr>
              <a:t>LGPD incompleta:</a:t>
            </a:r>
            <a:r>
              <a:rPr lang="pt-BR" sz="3200" dirty="0">
                <a:solidFill>
                  <a:srgbClr val="000000"/>
                </a:solidFill>
                <a:latin typeface="Arial"/>
                <a:cs typeface="Arial"/>
              </a:rPr>
              <a:t xml:space="preserve"> não há exclusão de conta nem exportação dos dados (art. 18), só a remoção de registros isolados.</a:t>
            </a:r>
          </a:p>
          <a:p>
            <a:pPr algn="just" marL="571500" indent="-5715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pt-BR" sz="3200" b="1" dirty="0">
                <a:solidFill>
                  <a:srgbClr val="000000"/>
                </a:solidFill>
                <a:latin typeface="Arial"/>
                <a:cs typeface="Arial"/>
              </a:rPr>
              <a:t>Implantação:</a:t>
            </a:r>
            <a:r>
              <a:rPr lang="pt-BR" sz="3200" dirty="0">
                <a:solidFill>
                  <a:srgbClr val="000000"/>
                </a:solidFill>
                <a:latin typeface="Arial"/>
                <a:cs typeface="Arial"/>
              </a:rPr>
              <a:t xml:space="preserve"> em desenvolvimento o tráfego usa HTTP e o banco não é cifrado; TLS e criptografia em repouso dependem de quem hospeda.</a:t>
            </a:r>
          </a:p>
          <a:p>
            <a:pPr algn="just" marL="571500" indent="-57150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pt-BR" sz="3200" b="1" dirty="0">
                <a:solidFill>
                  <a:srgbClr val="000000"/>
                </a:solidFill>
                <a:latin typeface="Arial"/>
                <a:cs typeface="Arial"/>
              </a:rPr>
              <a:t>Escopo:</a:t>
            </a:r>
            <a:r>
              <a:rPr lang="pt-BR" sz="3200" dirty="0">
                <a:solidFill>
                  <a:srgbClr val="000000"/>
                </a:solidFill>
                <a:latin typeface="Arial"/>
                <a:cs typeface="Arial"/>
              </a:rPr>
              <a:t xml:space="preserve"> testes mostram a presença de falhas, não a ausência; o Android não tem testes próprios e não houve avaliação com usuárias.</a:t>
            </a:r>
          </a:p>
          <a:p>
            <a:pPr algn="just">
              <a:spcBef>
                <a:spcPts val="1100"/>
              </a:spcBef>
              <a:spcAft>
                <a:spcPts val="600"/>
              </a:spcAft>
              <a:buNone/>
            </a:pPr>
            <a:r>
              <a:rPr lang="pt-BR" sz="3600" b="1" dirty="0">
                <a:solidFill>
                  <a:srgbClr val="000000"/>
                </a:solidFill>
                <a:latin typeface="Arial Black"/>
                <a:cs typeface="Arial Black"/>
              </a:rPr>
              <a:t>CONCLUSÕES</a:t>
            </a:r>
          </a:p>
          <a:p>
            <a:pPr algn="just" indent="685800">
              <a:spcBef>
                <a:spcPts val="0"/>
              </a:spcBef>
              <a:spcAft>
                <a:spcPts val="500"/>
              </a:spcAft>
              <a:buNone/>
            </a:pPr>
            <a:r>
              <a:rPr lang="pt-BR" sz="3200" dirty="0">
                <a:solidFill>
                  <a:srgbClr val="000000"/>
                </a:solidFill>
                <a:latin typeface="Arial"/>
                <a:cs typeface="Arial"/>
              </a:rPr>
              <a:t xml:space="preserve">No Luna, a proteção de dados pôde ser </a:t>
            </a:r>
            <a:r>
              <a:rPr lang="pt-BR" sz="3200" b="1" dirty="0">
                <a:solidFill>
                  <a:srgbClr val="000000"/>
                </a:solidFill>
                <a:latin typeface="Arial"/>
                <a:cs typeface="Arial"/>
              </a:rPr>
              <a:t>verificada</a:t>
            </a:r>
            <a:r>
              <a:rPr lang="pt-BR" sz="3200" dirty="0">
                <a:solidFill>
                  <a:srgbClr val="000000"/>
                </a:solidFill>
                <a:latin typeface="Arial"/>
                <a:cs typeface="Arial"/>
              </a:rPr>
              <a:t>, e não apenas declarada: quatro promessas típicas de políticas de privacidade viraram testes automatizados que qualquer pessoa reexecuta a partir do código aberto.</a:t>
            </a:r>
          </a:p>
          <a:p>
            <a:pPr algn="just" indent="685800">
              <a:spcBef>
                <a:spcPts val="0"/>
              </a:spcBef>
              <a:spcAft>
                <a:spcPts val="500"/>
              </a:spcAft>
              <a:buNone/>
            </a:pPr>
            <a:r>
              <a:rPr lang="pt-BR" sz="3200" dirty="0">
                <a:solidFill>
                  <a:srgbClr val="000000"/>
                </a:solidFill>
                <a:latin typeface="Arial"/>
                <a:cs typeface="Arial"/>
              </a:rPr>
              <a:t xml:space="preserve">Verificar também revelou </a:t>
            </a:r>
            <a:r>
              <a:rPr lang="pt-BR" sz="3200" b="1" dirty="0">
                <a:solidFill>
                  <a:srgbClr val="000000"/>
                </a:solidFill>
                <a:latin typeface="Arial"/>
                <a:cs typeface="Arial"/>
              </a:rPr>
              <a:t>o que falta</a:t>
            </a:r>
            <a:r>
              <a:rPr lang="pt-BR" sz="3200" dirty="0">
                <a:solidFill>
                  <a:srgbClr val="000000"/>
                </a:solidFill>
                <a:latin typeface="Arial"/>
                <a:cs typeface="Arial"/>
              </a:rPr>
              <a:t>, como os logs detalhados e a falta de exclusão de conta, algo que uma política de privacidade não mostraria. As verificações independem do domínio e servem a outros aplicativos de saúde com backend próprio.</a:t>
            </a:r>
          </a:p>
          <a:p>
            <a:pPr algn="just" indent="68580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000000"/>
                </a:solidFill>
                <a:latin typeface="Arial"/>
                <a:cs typeface="Arial"/>
              </a:rPr>
              <a:t>Próximos passos:</a:t>
            </a:r>
            <a:r>
              <a:rPr lang="pt-BR" sz="3200" dirty="0">
                <a:solidFill>
                  <a:srgbClr val="000000"/>
                </a:solidFill>
                <a:latin typeface="Arial"/>
                <a:cs typeface="Arial"/>
              </a:rPr>
              <a:t xml:space="preserve"> análise dinâmica do tráfego, consentimento registrado após o login, logs só em modo de depuração, exclusão e exportação de dados, testes no Android e avaliação com usuárias.</a:t>
            </a:r>
          </a:p>
          <a:p>
            <a:pPr algn="just">
              <a:spcBef>
                <a:spcPts val="1100"/>
              </a:spcBef>
              <a:spcAft>
                <a:spcPts val="600"/>
              </a:spcAft>
              <a:buNone/>
            </a:pPr>
            <a:r>
              <a:rPr lang="pt-BR" sz="3600" b="1" dirty="0">
                <a:solidFill>
                  <a:srgbClr val="000000"/>
                </a:solidFill>
                <a:latin typeface="Arial Black"/>
                <a:cs typeface="Arial Black"/>
              </a:rPr>
              <a:t>BIBLIOGRAFIA</a:t>
            </a:r>
          </a:p>
          <a:p>
            <a:pPr algn="just">
              <a:spcBef>
                <a:spcPts val="0"/>
              </a:spcBef>
              <a:spcAft>
                <a:spcPts val="200"/>
              </a:spcAft>
              <a:buNone/>
            </a:pPr>
            <a:r>
              <a:rPr lang="pt-BR" sz="2500" dirty="0">
                <a:solidFill>
                  <a:srgbClr val="000000"/>
                </a:solidFill>
                <a:latin typeface="Arial"/>
                <a:cs typeface="Arial"/>
              </a:rPr>
              <a:t>BRASIL. Lei nº 13.709, de 14 de agosto de 2018. Lei Geral de Proteção de Dados Pessoais (LGPD).</a:t>
            </a:r>
          </a:p>
          <a:p>
            <a:pPr algn="just">
              <a:spcBef>
                <a:spcPts val="0"/>
              </a:spcBef>
              <a:spcAft>
                <a:spcPts val="200"/>
              </a:spcAft>
              <a:buNone/>
            </a:pPr>
            <a:r>
              <a:rPr lang="pt-BR" sz="2500" dirty="0">
                <a:solidFill>
                  <a:srgbClr val="000000"/>
                </a:solidFill>
                <a:latin typeface="Arial"/>
                <a:cs typeface="Arial"/>
              </a:rPr>
              <a:t>TANGARI, G. et al. Mobile health and privacy: cross sectional study. BMJ, v. 373, n1248, 2021.</a:t>
            </a:r>
          </a:p>
          <a:p>
            <a:pPr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dirty="0">
                <a:solidFill>
                  <a:srgbClr val="000000"/>
                </a:solidFill>
                <a:latin typeface="Arial"/>
                <a:cs typeface="Arial"/>
              </a:rPr>
              <a:t>SHIPP, L.; BLASCO, J. How private is your period? A systematic analysis of menstrual app privacy policies. Proceedings on Privacy Enhancing Technologies, v. 2020, n. 4, p. 491-510, 2020.</a:t>
            </a:r>
          </a:p>
          <a:p>
            <a:pPr algn="just">
              <a:spcBef>
                <a:spcPts val="1100"/>
              </a:spcBef>
              <a:spcAft>
                <a:spcPts val="600"/>
              </a:spcAft>
              <a:buNone/>
            </a:pPr>
            <a:r>
              <a:rPr lang="pt-BR" sz="3600" b="1" dirty="0">
                <a:solidFill>
                  <a:srgbClr val="000000"/>
                </a:solidFill>
                <a:latin typeface="Arial Black"/>
                <a:cs typeface="Arial Black"/>
              </a:rPr>
              <a:t>AGRADECIMENTOS</a:t>
            </a:r>
          </a:p>
          <a:p>
            <a:pPr algn="just" indent="68580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solidFill>
                  <a:srgbClr val="000000"/>
                </a:solidFill>
                <a:latin typeface="Arial"/>
                <a:cs typeface="Arial"/>
              </a:rPr>
              <a:t>À FAPEMIG, pela bolsa de Iniciação Científica, e à Pró-Reitoria de Pesquisa e Pós-Graduação (PROPP/UFU).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_Master9-Layout10-blank-Default-85">
  <a:themeElements>
    <a:clrScheme name="_Master9-Layout10-blank-Default-8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_Master9-Layout10-blank-Default-85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_Master9-Layout10-blank-Default-85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satMod val="103000"/>
                <a:tint val="94000"/>
              </a:schemeClr>
            </a:gs>
            <a:gs pos="50000">
              <a:schemeClr val="phClr">
                <a:lumMod val="100000"/>
                <a:satMod val="110000"/>
                <a:shade val="100000"/>
              </a:schemeClr>
            </a:gs>
            <a:gs pos="100000">
              <a:schemeClr val="phClr">
                <a:lumMod val="120000"/>
                <a:sat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miter lim="800000"/>
        </a:ln>
        <a:ln w="12700" cap="flat" cmpd="sng" algn="ctr">
          <a:solidFill>
            <a:schemeClr val="phClr"/>
          </a:solidFill>
          <a:miter lim="800000"/>
        </a:ln>
        <a:ln w="19050" cap="flat" cmpd="sng" algn="ctr">
          <a:solidFill>
            <a:schemeClr val="phClr"/>
          </a:solidFill>
          <a:miter lim="800000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lumMod val="102000"/>
                <a:satMod val="150000"/>
                <a:tint val="93000"/>
                <a:shade val="98000"/>
              </a:schemeClr>
            </a:gs>
            <a:gs pos="50000">
              <a:schemeClr val="phClr">
                <a:lumMod val="103000"/>
                <a:satMod val="130000"/>
                <a:tint val="98000"/>
                <a:shade val="90000"/>
              </a:schemeClr>
            </a:gs>
            <a:gs pos="100000">
              <a:schemeClr val="phClr">
                <a:satMod val="120000"/>
                <a:shade val="63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User Theme: 2">
  <a:themeElements>
    <a:clrScheme name="User Theme: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User Theme: 2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User Theme: 2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satMod val="103000"/>
                <a:tint val="94000"/>
              </a:schemeClr>
            </a:gs>
            <a:gs pos="50000">
              <a:schemeClr val="phClr">
                <a:lumMod val="100000"/>
                <a:satMod val="110000"/>
                <a:shade val="100000"/>
              </a:schemeClr>
            </a:gs>
            <a:gs pos="100000">
              <a:schemeClr val="phClr">
                <a:lumMod val="120000"/>
                <a:sat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miter lim="800000"/>
        </a:ln>
        <a:ln w="12700" cap="flat" cmpd="sng" algn="ctr">
          <a:solidFill>
            <a:schemeClr val="phClr"/>
          </a:solidFill>
          <a:miter lim="800000"/>
        </a:ln>
        <a:ln w="19050" cap="flat" cmpd="sng" algn="ctr">
          <a:solidFill>
            <a:schemeClr val="phClr"/>
          </a:solidFill>
          <a:miter lim="800000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lumMod val="102000"/>
                <a:satMod val="150000"/>
                <a:tint val="93000"/>
                <a:shade val="98000"/>
              </a:schemeClr>
            </a:gs>
            <a:gs pos="50000">
              <a:schemeClr val="phClr">
                <a:lumMod val="103000"/>
                <a:satMod val="130000"/>
                <a:tint val="98000"/>
                <a:shade val="90000"/>
              </a:schemeClr>
            </a:gs>
            <a:gs pos="100000">
              <a:schemeClr val="phClr">
                <a:satMod val="120000"/>
                <a:shade val="63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180</Words>
  <Application>Microsoft Office PowerPoint</Application>
  <PresentationFormat>Personalizar</PresentationFormat>
  <Paragraphs>73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_Master9-Layout10-blank-Default-85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Caio Augusto Rodrigues dos Santos</cp:lastModifiedBy>
  <cp:revision>9</cp:revision>
  <dcterms:modified xsi:type="dcterms:W3CDTF">2026-10-11T20:26:44Z</dcterms:modified>
</cp:coreProperties>
</file>